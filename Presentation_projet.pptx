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257" r:id="rId3"/>
    <p:sldId id="259" r:id="rId4"/>
    <p:sldId id="260" r:id="rId5"/>
    <p:sldId id="290" r:id="rId6"/>
    <p:sldId id="291" r:id="rId7"/>
    <p:sldId id="292" r:id="rId8"/>
    <p:sldId id="293" r:id="rId9"/>
    <p:sldId id="294" r:id="rId10"/>
    <p:sldId id="29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689887-7567-09A9-8330-910759588630}" name="Jeff Obanda" initials="JO" userId="9cd7d4b0959bd5e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5E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660"/>
  </p:normalViewPr>
  <p:slideViewPr>
    <p:cSldViewPr snapToGrid="0">
      <p:cViewPr varScale="1">
        <p:scale>
          <a:sx n="35" d="100"/>
          <a:sy n="35" d="100"/>
        </p:scale>
        <p:origin x="11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M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E1C08-5A7E-4243-B203-4C348A2D11B3}" type="datetimeFigureOut">
              <a:rPr lang="fr-CM" smtClean="0"/>
              <a:t>07/02/2026</a:t>
            </a:fld>
            <a:endParaRPr lang="fr-CM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M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M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54F49-AC12-4AFA-BB3F-36296CFFCAA7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46728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Dans le cadre de l’amélioration du pilotage des activités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54F49-AC12-4AFA-BB3F-36296CFFCAA7}" type="slidenum">
              <a:rPr lang="fr-CM" smtClean="0"/>
              <a:t>4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344712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Dans le cadre de l’amélioration du pilotage des activités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54F49-AC12-4AFA-BB3F-36296CFFCAA7}" type="slidenum">
              <a:rPr lang="fr-CM" smtClean="0"/>
              <a:t>5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052644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Dans le cadre de l’amélioration du pilotage des activités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54F49-AC12-4AFA-BB3F-36296CFFCAA7}" type="slidenum">
              <a:rPr lang="fr-CM" smtClean="0"/>
              <a:t>6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457994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Dans le cadre de l’amélioration du pilotage des activités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54F49-AC12-4AFA-BB3F-36296CFFCAA7}" type="slidenum">
              <a:rPr lang="fr-CM" smtClean="0"/>
              <a:t>7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883971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Dans le cadre de l’amélioration du pilotage des activités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54F49-AC12-4AFA-BB3F-36296CFFCAA7}" type="slidenum">
              <a:rPr lang="fr-CM" smtClean="0"/>
              <a:t>8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590321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Dans le cadre de l’amélioration du pilotage des activités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54F49-AC12-4AFA-BB3F-36296CFFCAA7}" type="slidenum">
              <a:rPr lang="fr-CM" smtClean="0"/>
              <a:t>9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497692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Dans le cadre de l’amélioration du pilotage des activités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54F49-AC12-4AFA-BB3F-36296CFFCAA7}" type="slidenum">
              <a:rPr lang="fr-CM" smtClean="0"/>
              <a:t>10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08118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38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492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0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49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52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84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283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2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62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125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04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0A6E8-9DD2-4C53-A710-15D5D4CCBCBE}" type="datetimeFigureOut">
              <a:rPr lang="fr-FR" smtClean="0"/>
              <a:t>07/02/2026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3EE4ADB-5C12-459E-B352-7281A7FC3190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8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A44ED03-CB8B-323E-2C33-A9233F236AE1}"/>
              </a:ext>
            </a:extLst>
          </p:cNvPr>
          <p:cNvSpPr txBox="1"/>
          <p:nvPr/>
        </p:nvSpPr>
        <p:spPr>
          <a:xfrm>
            <a:off x="2598819" y="2168623"/>
            <a:ext cx="699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>
                <a:latin typeface="Gotham Medium"/>
              </a:rPr>
              <a:t>Présentation du prototype</a:t>
            </a:r>
            <a:endParaRPr lang="fr-FR" sz="1400" b="1" u="sng" dirty="0">
              <a:latin typeface="Gotham Medium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CE6756-5E5A-712E-D379-6D79A644A4C2}"/>
              </a:ext>
            </a:extLst>
          </p:cNvPr>
          <p:cNvSpPr txBox="1"/>
          <p:nvPr/>
        </p:nvSpPr>
        <p:spPr>
          <a:xfrm>
            <a:off x="2265943" y="2721114"/>
            <a:ext cx="76601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Gotham Black" pitchFamily="2" charset="0"/>
                <a:cs typeface="Gotham Black" pitchFamily="2" charset="0"/>
              </a:rPr>
              <a:t>APPLICATION DE </a:t>
            </a:r>
            <a:r>
              <a:rPr lang="fr-FR" sz="4000" b="1">
                <a:latin typeface="Gotham Black" pitchFamily="2" charset="0"/>
                <a:cs typeface="Gotham Black" pitchFamily="2" charset="0"/>
              </a:rPr>
              <a:t>SUIVI DES </a:t>
            </a:r>
            <a:r>
              <a:rPr lang="fr-FR" sz="4000" b="1" dirty="0">
                <a:latin typeface="Gotham Black" pitchFamily="2" charset="0"/>
                <a:cs typeface="Gotham Black" pitchFamily="2" charset="0"/>
              </a:rPr>
              <a:t>DES ACTIVITES</a:t>
            </a:r>
            <a:endParaRPr lang="fr-FR" sz="3200" b="1" dirty="0">
              <a:latin typeface="Gotham Black" pitchFamily="2" charset="0"/>
              <a:cs typeface="Gotham Black" pitchFamily="2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596A31B-994E-407F-BFB2-A51EE94F9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842" y="209074"/>
            <a:ext cx="1123427" cy="157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697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2425D1D-E359-8F87-B171-9EB61F2D3BDB}"/>
              </a:ext>
            </a:extLst>
          </p:cNvPr>
          <p:cNvSpPr txBox="1"/>
          <p:nvPr/>
        </p:nvSpPr>
        <p:spPr>
          <a:xfrm>
            <a:off x="1002714" y="1235242"/>
            <a:ext cx="2611120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b="1" dirty="0">
                <a:latin typeface="Gotham Medium" pitchFamily="2" charset="0"/>
                <a:cs typeface="Gotham Medium" pitchFamily="2" charset="0"/>
              </a:rPr>
              <a:t>Participants</a:t>
            </a:r>
            <a:r>
              <a:rPr lang="fr-FR" sz="2400" b="1" dirty="0">
                <a:latin typeface="Cocogoose" panose="02000000000000000000" pitchFamily="2" charset="0"/>
              </a:rPr>
              <a:t>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6F7BAF-46FF-A053-8306-4AF86A43AEB7}"/>
              </a:ext>
            </a:extLst>
          </p:cNvPr>
          <p:cNvSpPr/>
          <p:nvPr/>
        </p:nvSpPr>
        <p:spPr>
          <a:xfrm>
            <a:off x="1302825" y="1796260"/>
            <a:ext cx="1757680" cy="45719"/>
          </a:xfrm>
          <a:prstGeom prst="rect">
            <a:avLst/>
          </a:prstGeom>
          <a:solidFill>
            <a:srgbClr val="404AB6">
              <a:alpha val="6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E8C8E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9386405-E16C-A53B-3EE8-E5DE8137EE4F}"/>
              </a:ext>
            </a:extLst>
          </p:cNvPr>
          <p:cNvSpPr txBox="1"/>
          <p:nvPr/>
        </p:nvSpPr>
        <p:spPr>
          <a:xfrm>
            <a:off x="2721325" y="2526595"/>
            <a:ext cx="6183524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>
                <a:latin typeface="Cocogoose" panose="02000000000000000000"/>
                <a:cs typeface="Gotham" pitchFamily="2" charset="0"/>
              </a:rPr>
              <a:t>	</a:t>
            </a:r>
            <a:r>
              <a:rPr lang="fr-FR" sz="2400" dirty="0">
                <a:solidFill>
                  <a:srgbClr val="404AB6"/>
                </a:solidFill>
                <a:latin typeface="Cocogoose" panose="02000000000000000000"/>
                <a:cs typeface="Gotham Light" pitchFamily="2" charset="0"/>
              </a:rPr>
              <a:t>KINSAKIENO </a:t>
            </a:r>
            <a:r>
              <a:rPr lang="fr-FR" sz="2400" dirty="0" err="1">
                <a:solidFill>
                  <a:srgbClr val="404AB6"/>
                </a:solidFill>
                <a:latin typeface="Cocogoose" panose="02000000000000000000"/>
                <a:cs typeface="Gotham Light" pitchFamily="2" charset="0"/>
              </a:rPr>
              <a:t>Rostin</a:t>
            </a:r>
            <a:endParaRPr lang="fr-FR" sz="2400" b="1" dirty="0">
              <a:solidFill>
                <a:srgbClr val="EA5E4B"/>
              </a:solidFill>
              <a:latin typeface="Cocogoose" panose="02000000000000000000"/>
              <a:cs typeface="Gotham" pitchFamily="2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rgbClr val="FE8C8E"/>
                </a:solidFill>
                <a:latin typeface="Cocogoose" panose="02000000000000000000"/>
                <a:cs typeface="Gotham" pitchFamily="2" charset="0"/>
              </a:rPr>
              <a:t>	</a:t>
            </a:r>
            <a:r>
              <a:rPr lang="fr-FR" sz="2400" dirty="0">
                <a:solidFill>
                  <a:srgbClr val="404AB6"/>
                </a:solidFill>
                <a:latin typeface="Cocogoose" panose="02000000000000000000"/>
                <a:cs typeface="Gotham Light" pitchFamily="2" charset="0"/>
              </a:rPr>
              <a:t>BANTSIMBA Freddy</a:t>
            </a:r>
          </a:p>
          <a:p>
            <a:pPr>
              <a:lnSpc>
                <a:spcPct val="150000"/>
              </a:lnSpc>
            </a:pPr>
            <a:r>
              <a:rPr lang="fr-FR" sz="2400" b="1" dirty="0">
                <a:solidFill>
                  <a:srgbClr val="404AB6"/>
                </a:solidFill>
                <a:latin typeface="Cocogoose" panose="02000000000000000000"/>
                <a:cs typeface="Gotham" pitchFamily="2" charset="0"/>
              </a:rPr>
              <a:t>	</a:t>
            </a:r>
            <a:r>
              <a:rPr lang="fr-FR" sz="2400" dirty="0">
                <a:solidFill>
                  <a:srgbClr val="404AB6"/>
                </a:solidFill>
                <a:latin typeface="Cocogoose" panose="02000000000000000000"/>
                <a:cs typeface="Gotham" pitchFamily="2" charset="0"/>
              </a:rPr>
              <a:t>MACKAMBO POATY Grace</a:t>
            </a:r>
            <a:br>
              <a:rPr lang="fr-FR" sz="2400" dirty="0">
                <a:solidFill>
                  <a:srgbClr val="404AB6"/>
                </a:solidFill>
                <a:latin typeface="Cocogoose" panose="02000000000000000000"/>
                <a:cs typeface="Gotham" pitchFamily="2" charset="0"/>
              </a:rPr>
            </a:br>
            <a:r>
              <a:rPr lang="fr-FR" sz="2400" dirty="0">
                <a:solidFill>
                  <a:srgbClr val="404AB6"/>
                </a:solidFill>
                <a:latin typeface="Cocogoose" panose="02000000000000000000"/>
                <a:cs typeface="Gotham" pitchFamily="2" charset="0"/>
              </a:rPr>
              <a:t>	MOUAYA Jean D</a:t>
            </a:r>
            <a:endParaRPr lang="fr-FR" sz="2400" dirty="0">
              <a:latin typeface="Cocogoose" panose="02000000000000000000"/>
              <a:cs typeface="Gotha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660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F276FCF-47F0-3F54-2379-67DEA18279C1}"/>
              </a:ext>
            </a:extLst>
          </p:cNvPr>
          <p:cNvSpPr txBox="1"/>
          <p:nvPr/>
        </p:nvSpPr>
        <p:spPr>
          <a:xfrm>
            <a:off x="4652554" y="174970"/>
            <a:ext cx="2886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Gotham Ultra" pitchFamily="2" charset="0"/>
                <a:cs typeface="Gotham Ultra" pitchFamily="2" charset="0"/>
              </a:rPr>
              <a:t>SOMMAIRE</a:t>
            </a:r>
          </a:p>
        </p:txBody>
      </p:sp>
    </p:spTree>
    <p:extLst>
      <p:ext uri="{BB962C8B-B14F-4D97-AF65-F5344CB8AC3E}">
        <p14:creationId xmlns:p14="http://schemas.microsoft.com/office/powerpoint/2010/main" val="31827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01C1FC-8DF1-496F-3B2C-E8A7B0969144}"/>
              </a:ext>
            </a:extLst>
          </p:cNvPr>
          <p:cNvSpPr/>
          <p:nvPr/>
        </p:nvSpPr>
        <p:spPr>
          <a:xfrm>
            <a:off x="10972800" y="0"/>
            <a:ext cx="1219200" cy="443553"/>
          </a:xfrm>
          <a:prstGeom prst="rect">
            <a:avLst/>
          </a:prstGeom>
          <a:solidFill>
            <a:srgbClr val="404AB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20E3F-99CB-8296-AFE8-7CF322444EEE}"/>
              </a:ext>
            </a:extLst>
          </p:cNvPr>
          <p:cNvSpPr/>
          <p:nvPr/>
        </p:nvSpPr>
        <p:spPr>
          <a:xfrm>
            <a:off x="-1" y="-1130"/>
            <a:ext cx="844731" cy="915644"/>
          </a:xfrm>
          <a:prstGeom prst="rect">
            <a:avLst/>
          </a:prstGeom>
          <a:solidFill>
            <a:srgbClr val="404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5853E9D-E1C3-1468-2A26-ACF7016BF64C}"/>
              </a:ext>
            </a:extLst>
          </p:cNvPr>
          <p:cNvSpPr txBox="1"/>
          <p:nvPr/>
        </p:nvSpPr>
        <p:spPr>
          <a:xfrm>
            <a:off x="1269767" y="662520"/>
            <a:ext cx="7350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kern="150" dirty="0">
                <a:solidFill>
                  <a:srgbClr val="404AB6"/>
                </a:solidFill>
                <a:effectLst/>
                <a:latin typeface="Gotham" pitchFamily="2" charset="0"/>
                <a:ea typeface="SimSun" panose="02010600030101010101" pitchFamily="2" charset="-122"/>
                <a:cs typeface="Gotham" pitchFamily="2" charset="0"/>
              </a:rPr>
              <a:t>Contexte</a:t>
            </a:r>
            <a:endParaRPr lang="fr-FR" sz="4000" kern="150" dirty="0">
              <a:solidFill>
                <a:srgbClr val="404AB6"/>
              </a:solidFill>
              <a:effectLst/>
              <a:latin typeface="Gotham" pitchFamily="2" charset="0"/>
              <a:ea typeface="SimSun" panose="02010600030101010101" pitchFamily="2" charset="-122"/>
              <a:cs typeface="Gotham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627E7A-AA5B-1272-EC80-69BB33F25B55}"/>
              </a:ext>
            </a:extLst>
          </p:cNvPr>
          <p:cNvSpPr txBox="1"/>
          <p:nvPr/>
        </p:nvSpPr>
        <p:spPr>
          <a:xfrm>
            <a:off x="217715" y="41193"/>
            <a:ext cx="1052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rgbClr val="D2E5F3"/>
                </a:solidFill>
                <a:latin typeface="Gotham Ultra" pitchFamily="2" charset="0"/>
                <a:cs typeface="Gotham Ultra" pitchFamily="2" charset="0"/>
              </a:rPr>
              <a:t>I.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FB00EE-E72B-3CCD-B5C9-92557A979503}"/>
              </a:ext>
            </a:extLst>
          </p:cNvPr>
          <p:cNvSpPr txBox="1"/>
          <p:nvPr/>
        </p:nvSpPr>
        <p:spPr>
          <a:xfrm>
            <a:off x="743741" y="2066109"/>
            <a:ext cx="10528663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 suivi continu des activités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La centralisation des informations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 renforcement de la transparence et de la performance</a:t>
            </a:r>
          </a:p>
          <a:p>
            <a:pPr algn="just">
              <a:lnSpc>
                <a:spcPct val="150000"/>
              </a:lnSpc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EF0FE9A-F76C-4607-9267-91B27C76AEDD}"/>
              </a:ext>
            </a:extLst>
          </p:cNvPr>
          <p:cNvGrpSpPr/>
          <p:nvPr/>
        </p:nvGrpSpPr>
        <p:grpSpPr>
          <a:xfrm>
            <a:off x="11831053" y="6471843"/>
            <a:ext cx="360947" cy="400110"/>
            <a:chOff x="11831053" y="6471843"/>
            <a:chExt cx="360947" cy="4001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C26B8E-9017-4046-2EA8-E173A1F917D2}"/>
                </a:ext>
              </a:extLst>
            </p:cNvPr>
            <p:cNvSpPr/>
            <p:nvPr/>
          </p:nvSpPr>
          <p:spPr>
            <a:xfrm>
              <a:off x="11831053" y="6496519"/>
              <a:ext cx="360947" cy="370114"/>
            </a:xfrm>
            <a:prstGeom prst="rect">
              <a:avLst/>
            </a:prstGeom>
            <a:solidFill>
              <a:srgbClr val="EA5E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A2963800-CDF2-52D0-9093-0A445EFEB654}"/>
                </a:ext>
              </a:extLst>
            </p:cNvPr>
            <p:cNvSpPr txBox="1"/>
            <p:nvPr/>
          </p:nvSpPr>
          <p:spPr>
            <a:xfrm>
              <a:off x="11871157" y="6471843"/>
              <a:ext cx="2807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>
                  <a:solidFill>
                    <a:schemeClr val="bg1"/>
                  </a:solidFill>
                  <a:latin typeface="Gotham Ultra" pitchFamily="2" charset="0"/>
                  <a:cs typeface="Gotham Ultra" pitchFamily="2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599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01C1FC-8DF1-496F-3B2C-E8A7B0969144}"/>
              </a:ext>
            </a:extLst>
          </p:cNvPr>
          <p:cNvSpPr/>
          <p:nvPr/>
        </p:nvSpPr>
        <p:spPr>
          <a:xfrm>
            <a:off x="10972800" y="0"/>
            <a:ext cx="1219200" cy="443553"/>
          </a:xfrm>
          <a:prstGeom prst="rect">
            <a:avLst/>
          </a:prstGeom>
          <a:solidFill>
            <a:srgbClr val="404AB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20E3F-99CB-8296-AFE8-7CF322444EEE}"/>
              </a:ext>
            </a:extLst>
          </p:cNvPr>
          <p:cNvSpPr/>
          <p:nvPr/>
        </p:nvSpPr>
        <p:spPr>
          <a:xfrm>
            <a:off x="-1" y="-1130"/>
            <a:ext cx="844731" cy="915644"/>
          </a:xfrm>
          <a:prstGeom prst="rect">
            <a:avLst/>
          </a:prstGeom>
          <a:solidFill>
            <a:srgbClr val="404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5853E9D-E1C3-1468-2A26-ACF7016BF64C}"/>
              </a:ext>
            </a:extLst>
          </p:cNvPr>
          <p:cNvSpPr txBox="1"/>
          <p:nvPr/>
        </p:nvSpPr>
        <p:spPr>
          <a:xfrm>
            <a:off x="1624218" y="761264"/>
            <a:ext cx="7350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kern="150" dirty="0">
                <a:solidFill>
                  <a:srgbClr val="404AB6"/>
                </a:solidFill>
                <a:effectLst/>
                <a:latin typeface="Gotham" pitchFamily="2" charset="0"/>
                <a:ea typeface="SimSun" panose="02010600030101010101" pitchFamily="2" charset="-122"/>
                <a:cs typeface="Gotham" pitchFamily="2" charset="0"/>
              </a:rPr>
              <a:t>Problématique</a:t>
            </a:r>
            <a:endParaRPr lang="fr-FR" sz="4000" kern="150" dirty="0">
              <a:solidFill>
                <a:srgbClr val="404AB6"/>
              </a:solidFill>
              <a:effectLst/>
              <a:latin typeface="Gotham" pitchFamily="2" charset="0"/>
              <a:ea typeface="SimSun" panose="02010600030101010101" pitchFamily="2" charset="-122"/>
              <a:cs typeface="Gotham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627E7A-AA5B-1272-EC80-69BB33F25B55}"/>
              </a:ext>
            </a:extLst>
          </p:cNvPr>
          <p:cNvSpPr txBox="1"/>
          <p:nvPr/>
        </p:nvSpPr>
        <p:spPr>
          <a:xfrm>
            <a:off x="217715" y="41193"/>
            <a:ext cx="1052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rgbClr val="D2E5F3"/>
                </a:solidFill>
                <a:latin typeface="Gotham Ultra" pitchFamily="2" charset="0"/>
                <a:cs typeface="Gotham Ultra" pitchFamily="2" charset="0"/>
              </a:rPr>
              <a:t>I.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FB00EE-E72B-3CCD-B5C9-92557A979503}"/>
              </a:ext>
            </a:extLst>
          </p:cNvPr>
          <p:cNvSpPr txBox="1"/>
          <p:nvPr/>
        </p:nvSpPr>
        <p:spPr>
          <a:xfrm>
            <a:off x="1053738" y="2231591"/>
            <a:ext cx="79205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Suivi fragmenté des activités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Difficulté d’accès rapide aux informations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Faible visibilité sur l’état d’avancement global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EF0FE9A-F76C-4607-9267-91B27C76AEDD}"/>
              </a:ext>
            </a:extLst>
          </p:cNvPr>
          <p:cNvGrpSpPr/>
          <p:nvPr/>
        </p:nvGrpSpPr>
        <p:grpSpPr>
          <a:xfrm>
            <a:off x="11831053" y="6471843"/>
            <a:ext cx="360947" cy="400110"/>
            <a:chOff x="11831053" y="6471843"/>
            <a:chExt cx="360947" cy="4001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C26B8E-9017-4046-2EA8-E173A1F917D2}"/>
                </a:ext>
              </a:extLst>
            </p:cNvPr>
            <p:cNvSpPr/>
            <p:nvPr/>
          </p:nvSpPr>
          <p:spPr>
            <a:xfrm>
              <a:off x="11831053" y="6496519"/>
              <a:ext cx="360947" cy="370114"/>
            </a:xfrm>
            <a:prstGeom prst="rect">
              <a:avLst/>
            </a:prstGeom>
            <a:solidFill>
              <a:srgbClr val="EA5E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A2963800-CDF2-52D0-9093-0A445EFEB654}"/>
                </a:ext>
              </a:extLst>
            </p:cNvPr>
            <p:cNvSpPr txBox="1"/>
            <p:nvPr/>
          </p:nvSpPr>
          <p:spPr>
            <a:xfrm>
              <a:off x="11871157" y="6471843"/>
              <a:ext cx="2807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>
                  <a:solidFill>
                    <a:schemeClr val="bg1"/>
                  </a:solidFill>
                  <a:latin typeface="Gotham Ultra" pitchFamily="2" charset="0"/>
                  <a:cs typeface="Gotham Ultra" pitchFamily="2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557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01C1FC-8DF1-496F-3B2C-E8A7B0969144}"/>
              </a:ext>
            </a:extLst>
          </p:cNvPr>
          <p:cNvSpPr/>
          <p:nvPr/>
        </p:nvSpPr>
        <p:spPr>
          <a:xfrm>
            <a:off x="10972800" y="0"/>
            <a:ext cx="1219200" cy="443553"/>
          </a:xfrm>
          <a:prstGeom prst="rect">
            <a:avLst/>
          </a:prstGeom>
          <a:solidFill>
            <a:srgbClr val="404AB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20E3F-99CB-8296-AFE8-7CF322444EEE}"/>
              </a:ext>
            </a:extLst>
          </p:cNvPr>
          <p:cNvSpPr/>
          <p:nvPr/>
        </p:nvSpPr>
        <p:spPr>
          <a:xfrm>
            <a:off x="-1" y="-1130"/>
            <a:ext cx="844731" cy="915644"/>
          </a:xfrm>
          <a:prstGeom prst="rect">
            <a:avLst/>
          </a:prstGeom>
          <a:solidFill>
            <a:srgbClr val="404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5853E9D-E1C3-1468-2A26-ACF7016BF64C}"/>
              </a:ext>
            </a:extLst>
          </p:cNvPr>
          <p:cNvSpPr txBox="1"/>
          <p:nvPr/>
        </p:nvSpPr>
        <p:spPr>
          <a:xfrm>
            <a:off x="1624217" y="914514"/>
            <a:ext cx="7350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kern="150" dirty="0">
                <a:solidFill>
                  <a:srgbClr val="404AB6"/>
                </a:solidFill>
                <a:effectLst/>
                <a:latin typeface="Gotham" pitchFamily="2" charset="0"/>
                <a:ea typeface="SimSun" panose="02010600030101010101" pitchFamily="2" charset="-122"/>
                <a:cs typeface="Gotham" pitchFamily="2" charset="0"/>
              </a:rPr>
              <a:t>Objectif général</a:t>
            </a:r>
            <a:endParaRPr lang="fr-FR" sz="4000" kern="150" dirty="0">
              <a:solidFill>
                <a:srgbClr val="404AB6"/>
              </a:solidFill>
              <a:effectLst/>
              <a:latin typeface="Gotham" pitchFamily="2" charset="0"/>
              <a:ea typeface="SimSun" panose="02010600030101010101" pitchFamily="2" charset="-122"/>
              <a:cs typeface="Gotham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627E7A-AA5B-1272-EC80-69BB33F25B55}"/>
              </a:ext>
            </a:extLst>
          </p:cNvPr>
          <p:cNvSpPr txBox="1"/>
          <p:nvPr/>
        </p:nvSpPr>
        <p:spPr>
          <a:xfrm>
            <a:off x="217715" y="41193"/>
            <a:ext cx="1052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rgbClr val="D2E5F3"/>
                </a:solidFill>
                <a:latin typeface="Gotham Ultra" pitchFamily="2" charset="0"/>
                <a:cs typeface="Gotham Ultra" pitchFamily="2" charset="0"/>
              </a:rPr>
              <a:t>I.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FB00EE-E72B-3CCD-B5C9-92557A979503}"/>
              </a:ext>
            </a:extLst>
          </p:cNvPr>
          <p:cNvSpPr txBox="1"/>
          <p:nvPr/>
        </p:nvSpPr>
        <p:spPr>
          <a:xfrm>
            <a:off x="984525" y="3543022"/>
            <a:ext cx="9493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Centraliser les données d’activités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Faciliter le suivi des performances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Automatiser la production des tableaux de bord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EF0FE9A-F76C-4607-9267-91B27C76AEDD}"/>
              </a:ext>
            </a:extLst>
          </p:cNvPr>
          <p:cNvGrpSpPr/>
          <p:nvPr/>
        </p:nvGrpSpPr>
        <p:grpSpPr>
          <a:xfrm>
            <a:off x="11831053" y="6471843"/>
            <a:ext cx="360947" cy="400110"/>
            <a:chOff x="11831053" y="6471843"/>
            <a:chExt cx="360947" cy="4001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C26B8E-9017-4046-2EA8-E173A1F917D2}"/>
                </a:ext>
              </a:extLst>
            </p:cNvPr>
            <p:cNvSpPr/>
            <p:nvPr/>
          </p:nvSpPr>
          <p:spPr>
            <a:xfrm>
              <a:off x="11831053" y="6496519"/>
              <a:ext cx="360947" cy="370114"/>
            </a:xfrm>
            <a:prstGeom prst="rect">
              <a:avLst/>
            </a:prstGeom>
            <a:solidFill>
              <a:srgbClr val="EA5E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A2963800-CDF2-52D0-9093-0A445EFEB654}"/>
                </a:ext>
              </a:extLst>
            </p:cNvPr>
            <p:cNvSpPr txBox="1"/>
            <p:nvPr/>
          </p:nvSpPr>
          <p:spPr>
            <a:xfrm>
              <a:off x="11871157" y="6471843"/>
              <a:ext cx="2807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>
                  <a:solidFill>
                    <a:schemeClr val="bg1"/>
                  </a:solidFill>
                  <a:latin typeface="Gotham Ultra" pitchFamily="2" charset="0"/>
                  <a:cs typeface="Gotham Ultra" pitchFamily="2" charset="0"/>
                </a:rPr>
                <a:t>1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516297E7-ECD6-4DB3-868F-38D238A44A3B}"/>
              </a:ext>
            </a:extLst>
          </p:cNvPr>
          <p:cNvSpPr txBox="1"/>
          <p:nvPr/>
        </p:nvSpPr>
        <p:spPr>
          <a:xfrm>
            <a:off x="1053736" y="1909454"/>
            <a:ext cx="99190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Mettre en place une plateforme numérique permettant le suivi en temps réel des réalisations des activités</a:t>
            </a:r>
            <a:endParaRPr lang="fr-CM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3A1EDE0-4E60-4001-B506-E47F65330379}"/>
              </a:ext>
            </a:extLst>
          </p:cNvPr>
          <p:cNvSpPr txBox="1"/>
          <p:nvPr/>
        </p:nvSpPr>
        <p:spPr>
          <a:xfrm>
            <a:off x="1269767" y="3019608"/>
            <a:ext cx="7350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kern="150" dirty="0">
                <a:solidFill>
                  <a:srgbClr val="404AB6"/>
                </a:solidFill>
                <a:effectLst/>
                <a:latin typeface="Gotham" pitchFamily="2" charset="0"/>
                <a:ea typeface="SimSun" panose="02010600030101010101" pitchFamily="2" charset="-122"/>
                <a:cs typeface="Gotham" pitchFamily="2" charset="0"/>
              </a:rPr>
              <a:t>Objectifs spécifiques</a:t>
            </a:r>
            <a:endParaRPr lang="fr-FR" sz="2800" kern="150" dirty="0">
              <a:solidFill>
                <a:srgbClr val="404AB6"/>
              </a:solidFill>
              <a:effectLst/>
              <a:latin typeface="Gotham" pitchFamily="2" charset="0"/>
              <a:ea typeface="SimSun" panose="02010600030101010101" pitchFamily="2" charset="-122"/>
              <a:cs typeface="Gotha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094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01C1FC-8DF1-496F-3B2C-E8A7B0969144}"/>
              </a:ext>
            </a:extLst>
          </p:cNvPr>
          <p:cNvSpPr/>
          <p:nvPr/>
        </p:nvSpPr>
        <p:spPr>
          <a:xfrm>
            <a:off x="10972800" y="0"/>
            <a:ext cx="1219200" cy="443553"/>
          </a:xfrm>
          <a:prstGeom prst="rect">
            <a:avLst/>
          </a:prstGeom>
          <a:solidFill>
            <a:srgbClr val="404AB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20E3F-99CB-8296-AFE8-7CF322444EEE}"/>
              </a:ext>
            </a:extLst>
          </p:cNvPr>
          <p:cNvSpPr/>
          <p:nvPr/>
        </p:nvSpPr>
        <p:spPr>
          <a:xfrm>
            <a:off x="-1" y="-1130"/>
            <a:ext cx="844731" cy="915644"/>
          </a:xfrm>
          <a:prstGeom prst="rect">
            <a:avLst/>
          </a:prstGeom>
          <a:solidFill>
            <a:srgbClr val="404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5853E9D-E1C3-1468-2A26-ACF7016BF64C}"/>
              </a:ext>
            </a:extLst>
          </p:cNvPr>
          <p:cNvSpPr txBox="1"/>
          <p:nvPr/>
        </p:nvSpPr>
        <p:spPr>
          <a:xfrm>
            <a:off x="1624217" y="914514"/>
            <a:ext cx="8599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kern="150" dirty="0">
                <a:solidFill>
                  <a:srgbClr val="404AB6"/>
                </a:solidFill>
                <a:effectLst/>
                <a:latin typeface="Gotham" pitchFamily="2" charset="0"/>
                <a:ea typeface="SimSun" panose="02010600030101010101" pitchFamily="2" charset="-122"/>
                <a:cs typeface="Gotham" pitchFamily="2" charset="0"/>
              </a:rPr>
              <a:t>Présentation générale de la plateforme</a:t>
            </a:r>
            <a:endParaRPr lang="fr-FR" sz="4000" kern="150" dirty="0">
              <a:solidFill>
                <a:srgbClr val="404AB6"/>
              </a:solidFill>
              <a:effectLst/>
              <a:latin typeface="Gotham" pitchFamily="2" charset="0"/>
              <a:ea typeface="SimSun" panose="02010600030101010101" pitchFamily="2" charset="-122"/>
              <a:cs typeface="Gotham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627E7A-AA5B-1272-EC80-69BB33F25B55}"/>
              </a:ext>
            </a:extLst>
          </p:cNvPr>
          <p:cNvSpPr txBox="1"/>
          <p:nvPr/>
        </p:nvSpPr>
        <p:spPr>
          <a:xfrm>
            <a:off x="217715" y="41193"/>
            <a:ext cx="1052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rgbClr val="D2E5F3"/>
                </a:solidFill>
                <a:latin typeface="Gotham Ultra" pitchFamily="2" charset="0"/>
                <a:cs typeface="Gotham Ultra" pitchFamily="2" charset="0"/>
              </a:rPr>
              <a:t>I.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FB00EE-E72B-3CCD-B5C9-92557A979503}"/>
              </a:ext>
            </a:extLst>
          </p:cNvPr>
          <p:cNvSpPr txBox="1"/>
          <p:nvPr/>
        </p:nvSpPr>
        <p:spPr>
          <a:xfrm>
            <a:off x="1479201" y="2984987"/>
            <a:ext cx="9493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La gestion des activités par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Le suivi de l’exécution des activités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La visualisation des performances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La production automatique des indicateurs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EF0FE9A-F76C-4607-9267-91B27C76AEDD}"/>
              </a:ext>
            </a:extLst>
          </p:cNvPr>
          <p:cNvGrpSpPr/>
          <p:nvPr/>
        </p:nvGrpSpPr>
        <p:grpSpPr>
          <a:xfrm>
            <a:off x="11831053" y="6471843"/>
            <a:ext cx="360947" cy="400110"/>
            <a:chOff x="11831053" y="6471843"/>
            <a:chExt cx="360947" cy="4001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C26B8E-9017-4046-2EA8-E173A1F917D2}"/>
                </a:ext>
              </a:extLst>
            </p:cNvPr>
            <p:cNvSpPr/>
            <p:nvPr/>
          </p:nvSpPr>
          <p:spPr>
            <a:xfrm>
              <a:off x="11831053" y="6496519"/>
              <a:ext cx="360947" cy="370114"/>
            </a:xfrm>
            <a:prstGeom prst="rect">
              <a:avLst/>
            </a:prstGeom>
            <a:solidFill>
              <a:srgbClr val="EA5E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A2963800-CDF2-52D0-9093-0A445EFEB654}"/>
                </a:ext>
              </a:extLst>
            </p:cNvPr>
            <p:cNvSpPr txBox="1"/>
            <p:nvPr/>
          </p:nvSpPr>
          <p:spPr>
            <a:xfrm>
              <a:off x="11871157" y="6471843"/>
              <a:ext cx="2807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>
                  <a:solidFill>
                    <a:schemeClr val="bg1"/>
                  </a:solidFill>
                  <a:latin typeface="Gotham Ultra" pitchFamily="2" charset="0"/>
                  <a:cs typeface="Gotham Ultra" pitchFamily="2" charset="0"/>
                </a:rPr>
                <a:t>1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516297E7-ECD6-4DB3-868F-38D238A44A3B}"/>
              </a:ext>
            </a:extLst>
          </p:cNvPr>
          <p:cNvSpPr txBox="1"/>
          <p:nvPr/>
        </p:nvSpPr>
        <p:spPr>
          <a:xfrm>
            <a:off x="964222" y="2234777"/>
            <a:ext cx="9919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L’application développée permet </a:t>
            </a:r>
            <a:endParaRPr lang="fr-CM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548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01C1FC-8DF1-496F-3B2C-E8A7B0969144}"/>
              </a:ext>
            </a:extLst>
          </p:cNvPr>
          <p:cNvSpPr/>
          <p:nvPr/>
        </p:nvSpPr>
        <p:spPr>
          <a:xfrm>
            <a:off x="10972800" y="0"/>
            <a:ext cx="1219200" cy="443553"/>
          </a:xfrm>
          <a:prstGeom prst="rect">
            <a:avLst/>
          </a:prstGeom>
          <a:solidFill>
            <a:srgbClr val="404AB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20E3F-99CB-8296-AFE8-7CF322444EEE}"/>
              </a:ext>
            </a:extLst>
          </p:cNvPr>
          <p:cNvSpPr/>
          <p:nvPr/>
        </p:nvSpPr>
        <p:spPr>
          <a:xfrm>
            <a:off x="-1" y="-1130"/>
            <a:ext cx="844731" cy="915644"/>
          </a:xfrm>
          <a:prstGeom prst="rect">
            <a:avLst/>
          </a:prstGeom>
          <a:solidFill>
            <a:srgbClr val="404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5853E9D-E1C3-1468-2A26-ACF7016BF64C}"/>
              </a:ext>
            </a:extLst>
          </p:cNvPr>
          <p:cNvSpPr txBox="1"/>
          <p:nvPr/>
        </p:nvSpPr>
        <p:spPr>
          <a:xfrm>
            <a:off x="1624217" y="914514"/>
            <a:ext cx="8599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kern="150" dirty="0">
                <a:solidFill>
                  <a:srgbClr val="404AB6"/>
                </a:solidFill>
                <a:effectLst/>
                <a:latin typeface="Gotham" pitchFamily="2" charset="0"/>
                <a:ea typeface="SimSun" panose="02010600030101010101" pitchFamily="2" charset="-122"/>
                <a:cs typeface="Gotham" pitchFamily="2" charset="0"/>
              </a:rPr>
              <a:t>Principales fonctionnalités</a:t>
            </a:r>
            <a:endParaRPr lang="fr-FR" sz="4000" kern="150" dirty="0">
              <a:solidFill>
                <a:srgbClr val="404AB6"/>
              </a:solidFill>
              <a:effectLst/>
              <a:latin typeface="Gotham" pitchFamily="2" charset="0"/>
              <a:ea typeface="SimSun" panose="02010600030101010101" pitchFamily="2" charset="-122"/>
              <a:cs typeface="Gotham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627E7A-AA5B-1272-EC80-69BB33F25B55}"/>
              </a:ext>
            </a:extLst>
          </p:cNvPr>
          <p:cNvSpPr txBox="1"/>
          <p:nvPr/>
        </p:nvSpPr>
        <p:spPr>
          <a:xfrm>
            <a:off x="217715" y="41193"/>
            <a:ext cx="1052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rgbClr val="D2E5F3"/>
                </a:solidFill>
                <a:latin typeface="Gotham Ultra" pitchFamily="2" charset="0"/>
                <a:cs typeface="Gotham Ultra" pitchFamily="2" charset="0"/>
              </a:rPr>
              <a:t>I.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FB00EE-E72B-3CCD-B5C9-92557A979503}"/>
              </a:ext>
            </a:extLst>
          </p:cNvPr>
          <p:cNvSpPr txBox="1"/>
          <p:nvPr/>
        </p:nvSpPr>
        <p:spPr>
          <a:xfrm>
            <a:off x="1479201" y="2984987"/>
            <a:ext cx="9493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Enregistrement des activités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Suivi de l’état d’avancement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Tableau de bord interactif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Production de rapports automatiques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Visualisation graphique des performances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EF0FE9A-F76C-4607-9267-91B27C76AEDD}"/>
              </a:ext>
            </a:extLst>
          </p:cNvPr>
          <p:cNvGrpSpPr/>
          <p:nvPr/>
        </p:nvGrpSpPr>
        <p:grpSpPr>
          <a:xfrm>
            <a:off x="11831053" y="6471843"/>
            <a:ext cx="360947" cy="400110"/>
            <a:chOff x="11831053" y="6471843"/>
            <a:chExt cx="360947" cy="4001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C26B8E-9017-4046-2EA8-E173A1F917D2}"/>
                </a:ext>
              </a:extLst>
            </p:cNvPr>
            <p:cNvSpPr/>
            <p:nvPr/>
          </p:nvSpPr>
          <p:spPr>
            <a:xfrm>
              <a:off x="11831053" y="6496519"/>
              <a:ext cx="360947" cy="370114"/>
            </a:xfrm>
            <a:prstGeom prst="rect">
              <a:avLst/>
            </a:prstGeom>
            <a:solidFill>
              <a:srgbClr val="EA5E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A2963800-CDF2-52D0-9093-0A445EFEB654}"/>
                </a:ext>
              </a:extLst>
            </p:cNvPr>
            <p:cNvSpPr txBox="1"/>
            <p:nvPr/>
          </p:nvSpPr>
          <p:spPr>
            <a:xfrm>
              <a:off x="11871157" y="6471843"/>
              <a:ext cx="2807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>
                  <a:solidFill>
                    <a:schemeClr val="bg1"/>
                  </a:solidFill>
                  <a:latin typeface="Gotham Ultra" pitchFamily="2" charset="0"/>
                  <a:cs typeface="Gotham Ultra" pitchFamily="2" charset="0"/>
                </a:rPr>
                <a:t>1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516297E7-ECD6-4DB3-868F-38D238A44A3B}"/>
              </a:ext>
            </a:extLst>
          </p:cNvPr>
          <p:cNvSpPr txBox="1"/>
          <p:nvPr/>
        </p:nvSpPr>
        <p:spPr>
          <a:xfrm>
            <a:off x="964222" y="2234777"/>
            <a:ext cx="9919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Fonctionnalités principales</a:t>
            </a:r>
          </a:p>
        </p:txBody>
      </p:sp>
    </p:spTree>
    <p:extLst>
      <p:ext uri="{BB962C8B-B14F-4D97-AF65-F5344CB8AC3E}">
        <p14:creationId xmlns:p14="http://schemas.microsoft.com/office/powerpoint/2010/main" val="3919252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01C1FC-8DF1-496F-3B2C-E8A7B0969144}"/>
              </a:ext>
            </a:extLst>
          </p:cNvPr>
          <p:cNvSpPr/>
          <p:nvPr/>
        </p:nvSpPr>
        <p:spPr>
          <a:xfrm>
            <a:off x="10972800" y="0"/>
            <a:ext cx="1219200" cy="443553"/>
          </a:xfrm>
          <a:prstGeom prst="rect">
            <a:avLst/>
          </a:prstGeom>
          <a:solidFill>
            <a:srgbClr val="404AB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20E3F-99CB-8296-AFE8-7CF322444EEE}"/>
              </a:ext>
            </a:extLst>
          </p:cNvPr>
          <p:cNvSpPr/>
          <p:nvPr/>
        </p:nvSpPr>
        <p:spPr>
          <a:xfrm>
            <a:off x="-1" y="-1130"/>
            <a:ext cx="844731" cy="915644"/>
          </a:xfrm>
          <a:prstGeom prst="rect">
            <a:avLst/>
          </a:prstGeom>
          <a:solidFill>
            <a:srgbClr val="404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5853E9D-E1C3-1468-2A26-ACF7016BF64C}"/>
              </a:ext>
            </a:extLst>
          </p:cNvPr>
          <p:cNvSpPr txBox="1"/>
          <p:nvPr/>
        </p:nvSpPr>
        <p:spPr>
          <a:xfrm>
            <a:off x="1624217" y="914514"/>
            <a:ext cx="8599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kern="150" dirty="0">
                <a:solidFill>
                  <a:srgbClr val="404AB6"/>
                </a:solidFill>
                <a:effectLst/>
                <a:latin typeface="Gotham" pitchFamily="2" charset="0"/>
                <a:ea typeface="SimSun" panose="02010600030101010101" pitchFamily="2" charset="-122"/>
                <a:cs typeface="Gotham" pitchFamily="2" charset="0"/>
              </a:rPr>
              <a:t>Technologies utilisées</a:t>
            </a:r>
            <a:endParaRPr lang="fr-FR" sz="4000" kern="150" dirty="0">
              <a:solidFill>
                <a:srgbClr val="404AB6"/>
              </a:solidFill>
              <a:effectLst/>
              <a:latin typeface="Gotham" pitchFamily="2" charset="0"/>
              <a:ea typeface="SimSun" panose="02010600030101010101" pitchFamily="2" charset="-122"/>
              <a:cs typeface="Gotham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627E7A-AA5B-1272-EC80-69BB33F25B55}"/>
              </a:ext>
            </a:extLst>
          </p:cNvPr>
          <p:cNvSpPr txBox="1"/>
          <p:nvPr/>
        </p:nvSpPr>
        <p:spPr>
          <a:xfrm>
            <a:off x="217715" y="41193"/>
            <a:ext cx="1052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rgbClr val="D2E5F3"/>
                </a:solidFill>
                <a:latin typeface="Gotham Ultra" pitchFamily="2" charset="0"/>
                <a:cs typeface="Gotham Ultra" pitchFamily="2" charset="0"/>
              </a:rPr>
              <a:t>I.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FB00EE-E72B-3CCD-B5C9-92557A979503}"/>
              </a:ext>
            </a:extLst>
          </p:cNvPr>
          <p:cNvSpPr txBox="1"/>
          <p:nvPr/>
        </p:nvSpPr>
        <p:spPr>
          <a:xfrm>
            <a:off x="1479201" y="2984987"/>
            <a:ext cx="9493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Shiny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EF0FE9A-F76C-4607-9267-91B27C76AEDD}"/>
              </a:ext>
            </a:extLst>
          </p:cNvPr>
          <p:cNvGrpSpPr/>
          <p:nvPr/>
        </p:nvGrpSpPr>
        <p:grpSpPr>
          <a:xfrm>
            <a:off x="11831053" y="6471843"/>
            <a:ext cx="360947" cy="400110"/>
            <a:chOff x="11831053" y="6471843"/>
            <a:chExt cx="360947" cy="4001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C26B8E-9017-4046-2EA8-E173A1F917D2}"/>
                </a:ext>
              </a:extLst>
            </p:cNvPr>
            <p:cNvSpPr/>
            <p:nvPr/>
          </p:nvSpPr>
          <p:spPr>
            <a:xfrm>
              <a:off x="11831053" y="6496519"/>
              <a:ext cx="360947" cy="370114"/>
            </a:xfrm>
            <a:prstGeom prst="rect">
              <a:avLst/>
            </a:prstGeom>
            <a:solidFill>
              <a:srgbClr val="EA5E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A2963800-CDF2-52D0-9093-0A445EFEB654}"/>
                </a:ext>
              </a:extLst>
            </p:cNvPr>
            <p:cNvSpPr txBox="1"/>
            <p:nvPr/>
          </p:nvSpPr>
          <p:spPr>
            <a:xfrm>
              <a:off x="11871157" y="6471843"/>
              <a:ext cx="2807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>
                  <a:solidFill>
                    <a:schemeClr val="bg1"/>
                  </a:solidFill>
                  <a:latin typeface="Gotham Ultra" pitchFamily="2" charset="0"/>
                  <a:cs typeface="Gotham Ultra" pitchFamily="2" charset="0"/>
                </a:rPr>
                <a:t>1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516297E7-ECD6-4DB3-868F-38D238A44A3B}"/>
              </a:ext>
            </a:extLst>
          </p:cNvPr>
          <p:cNvSpPr txBox="1"/>
          <p:nvPr/>
        </p:nvSpPr>
        <p:spPr>
          <a:xfrm>
            <a:off x="964222" y="2234777"/>
            <a:ext cx="9919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L’application développée à partir du logiciel :</a:t>
            </a:r>
            <a:endParaRPr lang="fr-CM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895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01C1FC-8DF1-496F-3B2C-E8A7B0969144}"/>
              </a:ext>
            </a:extLst>
          </p:cNvPr>
          <p:cNvSpPr/>
          <p:nvPr/>
        </p:nvSpPr>
        <p:spPr>
          <a:xfrm>
            <a:off x="10972800" y="0"/>
            <a:ext cx="1219200" cy="443553"/>
          </a:xfrm>
          <a:prstGeom prst="rect">
            <a:avLst/>
          </a:prstGeom>
          <a:solidFill>
            <a:srgbClr val="404AB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20E3F-99CB-8296-AFE8-7CF322444EEE}"/>
              </a:ext>
            </a:extLst>
          </p:cNvPr>
          <p:cNvSpPr/>
          <p:nvPr/>
        </p:nvSpPr>
        <p:spPr>
          <a:xfrm>
            <a:off x="-1" y="-1130"/>
            <a:ext cx="844731" cy="915644"/>
          </a:xfrm>
          <a:prstGeom prst="rect">
            <a:avLst/>
          </a:prstGeom>
          <a:solidFill>
            <a:srgbClr val="404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5853E9D-E1C3-1468-2A26-ACF7016BF64C}"/>
              </a:ext>
            </a:extLst>
          </p:cNvPr>
          <p:cNvSpPr txBox="1"/>
          <p:nvPr/>
        </p:nvSpPr>
        <p:spPr>
          <a:xfrm>
            <a:off x="1624217" y="914514"/>
            <a:ext cx="8599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kern="150" dirty="0">
                <a:solidFill>
                  <a:srgbClr val="404AB6"/>
                </a:solidFill>
                <a:effectLst/>
                <a:latin typeface="Gotham" pitchFamily="2" charset="0"/>
                <a:ea typeface="SimSun" panose="02010600030101010101" pitchFamily="2" charset="-122"/>
                <a:cs typeface="Gotham" pitchFamily="2" charset="0"/>
              </a:rPr>
              <a:t>Perspectives d’amélioration</a:t>
            </a:r>
            <a:endParaRPr lang="fr-FR" sz="4000" kern="150" dirty="0">
              <a:solidFill>
                <a:srgbClr val="404AB6"/>
              </a:solidFill>
              <a:effectLst/>
              <a:latin typeface="Gotham" pitchFamily="2" charset="0"/>
              <a:ea typeface="SimSun" panose="02010600030101010101" pitchFamily="2" charset="-122"/>
              <a:cs typeface="Gotham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627E7A-AA5B-1272-EC80-69BB33F25B55}"/>
              </a:ext>
            </a:extLst>
          </p:cNvPr>
          <p:cNvSpPr txBox="1"/>
          <p:nvPr/>
        </p:nvSpPr>
        <p:spPr>
          <a:xfrm>
            <a:off x="217715" y="41193"/>
            <a:ext cx="1052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rgbClr val="D2E5F3"/>
                </a:solidFill>
                <a:latin typeface="Gotham Ultra" pitchFamily="2" charset="0"/>
                <a:cs typeface="Gotham Ultra" pitchFamily="2" charset="0"/>
              </a:rPr>
              <a:t>I.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FB00EE-E72B-3CCD-B5C9-92557A979503}"/>
              </a:ext>
            </a:extLst>
          </p:cNvPr>
          <p:cNvSpPr txBox="1"/>
          <p:nvPr/>
        </p:nvSpPr>
        <p:spPr>
          <a:xfrm>
            <a:off x="1479201" y="2460331"/>
            <a:ext cx="9493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Ajout d’indicateurs de performance avancés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400" dirty="0">
                <a:latin typeface="Arial" panose="020B0604020202020204" pitchFamily="34" charset="0"/>
              </a:rPr>
              <a:t>Améliorer l’ergonomie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Renforcer des filtres/contrôles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EF0FE9A-F76C-4607-9267-91B27C76AEDD}"/>
              </a:ext>
            </a:extLst>
          </p:cNvPr>
          <p:cNvGrpSpPr/>
          <p:nvPr/>
        </p:nvGrpSpPr>
        <p:grpSpPr>
          <a:xfrm>
            <a:off x="11831053" y="6471843"/>
            <a:ext cx="360947" cy="400110"/>
            <a:chOff x="11831053" y="6471843"/>
            <a:chExt cx="360947" cy="4001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C26B8E-9017-4046-2EA8-E173A1F917D2}"/>
                </a:ext>
              </a:extLst>
            </p:cNvPr>
            <p:cNvSpPr/>
            <p:nvPr/>
          </p:nvSpPr>
          <p:spPr>
            <a:xfrm>
              <a:off x="11831053" y="6496519"/>
              <a:ext cx="360947" cy="370114"/>
            </a:xfrm>
            <a:prstGeom prst="rect">
              <a:avLst/>
            </a:prstGeom>
            <a:solidFill>
              <a:srgbClr val="EA5E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A2963800-CDF2-52D0-9093-0A445EFEB654}"/>
                </a:ext>
              </a:extLst>
            </p:cNvPr>
            <p:cNvSpPr txBox="1"/>
            <p:nvPr/>
          </p:nvSpPr>
          <p:spPr>
            <a:xfrm>
              <a:off x="11871157" y="6471843"/>
              <a:ext cx="2807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>
                  <a:solidFill>
                    <a:schemeClr val="bg1"/>
                  </a:solidFill>
                  <a:latin typeface="Gotham Ultra" pitchFamily="2" charset="0"/>
                  <a:cs typeface="Gotham Ultra" pitchFamily="2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1937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alerie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ppt/theme/themeOverride2.xml><?xml version="1.0" encoding="utf-8"?>
<a:themeOverride xmlns:a="http://schemas.openxmlformats.org/drawingml/2006/main">
  <a:clrScheme name="Galerie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ppt/theme/themeOverride3.xml><?xml version="1.0" encoding="utf-8"?>
<a:themeOverride xmlns:a="http://schemas.openxmlformats.org/drawingml/2006/main">
  <a:clrScheme name="Galerie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ppt/theme/themeOverride4.xml><?xml version="1.0" encoding="utf-8"?>
<a:themeOverride xmlns:a="http://schemas.openxmlformats.org/drawingml/2006/main">
  <a:clrScheme name="Galerie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ppt/theme/themeOverride5.xml><?xml version="1.0" encoding="utf-8"?>
<a:themeOverride xmlns:a="http://schemas.openxmlformats.org/drawingml/2006/main">
  <a:clrScheme name="Galerie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ppt/theme/themeOverride6.xml><?xml version="1.0" encoding="utf-8"?>
<a:themeOverride xmlns:a="http://schemas.openxmlformats.org/drawingml/2006/main">
  <a:clrScheme name="Galerie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</TotalTime>
  <Words>273</Words>
  <Application>Microsoft Office PowerPoint</Application>
  <PresentationFormat>Grand écran</PresentationFormat>
  <Paragraphs>69</Paragraphs>
  <Slides>10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Cocogoose</vt:lpstr>
      <vt:lpstr>Gill Sans MT</vt:lpstr>
      <vt:lpstr>Gotham</vt:lpstr>
      <vt:lpstr>Gotham Black</vt:lpstr>
      <vt:lpstr>Gotham Medium</vt:lpstr>
      <vt:lpstr>Gotham Ultra</vt:lpstr>
      <vt:lpstr>Galerie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Jeff Obanda</dc:creator>
  <cp:lastModifiedBy>Freddy</cp:lastModifiedBy>
  <cp:revision>14</cp:revision>
  <dcterms:created xsi:type="dcterms:W3CDTF">2024-06-20T15:00:55Z</dcterms:created>
  <dcterms:modified xsi:type="dcterms:W3CDTF">2026-02-07T16:03:21Z</dcterms:modified>
</cp:coreProperties>
</file>